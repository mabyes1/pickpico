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b2eb6fe8e_3_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3fb2eb6fe8e_3_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fb2eb6fe8e_3_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2eb6fe8e_3_2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g3fb2eb6fe8e_3_2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b2eb6fe8e_3_2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b2eb6fe8e_3_5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3fb2eb6fe8e_3_5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b2eb6fe8e_3_5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b2eb6fe8e_3_107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fb2eb6fe8e_3_10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b2eb6fe8e_3_10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b2eb6fe8e_3_18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fb2eb6fe8e_3_18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b2eb6fe8e_3_18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b2eb6fe8e_3_23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fb2eb6fe8e_3_23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b2eb6fe8e_3_23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DE7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6"/>
          <p:cNvPicPr preferRelativeResize="0"/>
          <p:nvPr/>
        </p:nvPicPr>
        <p:blipFill rotWithShape="1">
          <a:blip r:embed="rId3">
            <a:alphaModFix/>
          </a:blip>
          <a:srcRect b="0" l="77302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6"/>
          <p:cNvPicPr preferRelativeResize="0"/>
          <p:nvPr/>
        </p:nvPicPr>
        <p:blipFill rotWithShape="1">
          <a:blip r:embed="rId3">
            <a:alphaModFix/>
          </a:blip>
          <a:srcRect b="4210" l="4395" r="23117" t="6209"/>
          <a:stretch/>
        </p:blipFill>
        <p:spPr>
          <a:xfrm>
            <a:off x="2986852" y="1"/>
            <a:ext cx="5549353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6"/>
          <p:cNvCxnSpPr/>
          <p:nvPr/>
        </p:nvCxnSpPr>
        <p:spPr>
          <a:xfrm>
            <a:off x="897687" y="3798698"/>
            <a:ext cx="3256127" cy="0"/>
          </a:xfrm>
          <a:prstGeom prst="straightConnector1">
            <a:avLst/>
          </a:prstGeom>
          <a:noFill/>
          <a:ln cap="flat" cmpd="sng" w="19050">
            <a:solidFill>
              <a:srgbClr val="D2A8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6"/>
          <p:cNvSpPr/>
          <p:nvPr/>
        </p:nvSpPr>
        <p:spPr>
          <a:xfrm>
            <a:off x="897687" y="2971322"/>
            <a:ext cx="31546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1600"/>
              <a:buFont typeface="Microsoft JhengHei"/>
              <a:buNone/>
            </a:pPr>
            <a:r>
              <a:rPr b="1" i="0" lang="zh-TW" sz="1600" u="none" cap="none" strike="noStrike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Give your agent a phone.</a:t>
            </a:r>
            <a:endParaRPr b="0" i="0" sz="1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897687" y="3402746"/>
            <a:ext cx="30861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讓 AI 看見現場、操作手機、執行程式，遇到難題直接找你。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260282" y="4882907"/>
            <a:ext cx="24690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600"/>
              <a:buFont typeface="Microsoft JhengHei"/>
              <a:buNone/>
            </a:pPr>
            <a:r>
              <a:rPr b="0" i="0" lang="zh-TW" sz="600" u="none" cap="none" strike="noStrike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FUTUREMODE × SITCON Hackathon 2026</a:t>
            </a:r>
            <a:endParaRPr b="0" i="0" sz="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8764524" y="4910328"/>
            <a:ext cx="17145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500"/>
              <a:buFont typeface="Microsoft JhengHei"/>
              <a:buNone/>
            </a:pPr>
            <a:r>
              <a:rPr b="0" i="0" lang="zh-TW" sz="500" u="none" cap="none" strike="noStrike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01</a:t>
            </a:r>
            <a:endParaRPr b="0" i="0" sz="5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8" name="Google Shape;6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353" y="751798"/>
            <a:ext cx="1796200" cy="14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/>
          <p:nvPr/>
        </p:nvSpPr>
        <p:spPr>
          <a:xfrm>
            <a:off x="885912" y="3843540"/>
            <a:ext cx="219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782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8B8782"/>
                </a:solidFill>
                <a:latin typeface="Arial"/>
                <a:ea typeface="Arial"/>
                <a:cs typeface="Arial"/>
                <a:sym typeface="Arial"/>
              </a:rPr>
              <a:t>Android phone as a Mobile Agent Node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DE7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1EDE7"/>
          </a:solidFill>
          <a:ln cap="flat" cmpd="sng" w="12700">
            <a:solidFill>
              <a:srgbClr val="F1E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411480" y="260604"/>
            <a:ext cx="20574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078"/>
              </a:buClr>
              <a:buSzPts val="500"/>
              <a:buFont typeface="Microsoft JhengHei"/>
              <a:buNone/>
            </a:pPr>
            <a:r>
              <a:rPr b="1" lang="zh-TW" sz="500">
                <a:solidFill>
                  <a:srgbClr val="6A90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VALUE</a:t>
            </a:r>
            <a:endParaRPr sz="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11480" y="493776"/>
            <a:ext cx="6720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1700"/>
              <a:buFont typeface="Microsoft JhengHei"/>
              <a:buNone/>
            </a:pPr>
            <a:r>
              <a:rPr b="1" lang="zh-TW" sz="17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一支手機，補上 Agent 缺的四種能力</a:t>
            </a:r>
            <a:endParaRPr sz="17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411480" y="905256"/>
            <a:ext cx="54864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800"/>
              <a:buFont typeface="Microsoft JhengHei"/>
              <a:buNone/>
            </a:pPr>
            <a:r>
              <a:rPr lang="zh-TW" sz="8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不是更多手機功能，而是把 Agent 真正接進實體世界。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79" name="Google Shape;79;p17"/>
          <p:cNvCxnSpPr/>
          <p:nvPr/>
        </p:nvCxnSpPr>
        <p:spPr>
          <a:xfrm>
            <a:off x="411480" y="1248156"/>
            <a:ext cx="8366760" cy="0"/>
          </a:xfrm>
          <a:prstGeom prst="straightConnector1">
            <a:avLst/>
          </a:prstGeom>
          <a:noFill/>
          <a:ln cap="flat" cmpd="sng" w="9525">
            <a:solidFill>
              <a:srgbClr val="C9C2B9">
                <a:alpha val="8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7"/>
          <p:cNvSpPr/>
          <p:nvPr/>
        </p:nvSpPr>
        <p:spPr>
          <a:xfrm>
            <a:off x="514350" y="1385280"/>
            <a:ext cx="3697800" cy="589800"/>
          </a:xfrm>
          <a:prstGeom prst="roundRect">
            <a:avLst>
              <a:gd fmla="val 9302" name="adj"/>
            </a:avLst>
          </a:prstGeom>
          <a:solidFill>
            <a:srgbClr val="F8F5EF">
              <a:alpha val="96863"/>
            </a:srgbClr>
          </a:solidFill>
          <a:ln cap="flat" cmpd="sng" w="9525">
            <a:solidFill>
              <a:srgbClr val="D8D1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672084" y="1571455"/>
            <a:ext cx="219600" cy="219600"/>
          </a:xfrm>
          <a:prstGeom prst="ellipse">
            <a:avLst/>
          </a:prstGeom>
          <a:solidFill>
            <a:srgbClr val="6A9078"/>
          </a:solidFill>
          <a:ln cap="flat" cmpd="sng" w="12700">
            <a:solidFill>
              <a:srgbClr val="6A9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994410" y="1580683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👀 看現場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1983150" y="1536145"/>
            <a:ext cx="222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800"/>
              <a:buFont typeface="Microsoft JhengHei"/>
              <a:buNone/>
            </a:pPr>
            <a:r>
              <a:rPr lang="zh-TW" sz="8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相機、錄音、位置、螢幕擷取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97730" y="1508713"/>
            <a:ext cx="3497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「設定 1 分鐘後拍照，定位後語音倒數 3、2、1。」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14350" y="2054300"/>
            <a:ext cx="3697800" cy="589800"/>
          </a:xfrm>
          <a:prstGeom prst="roundRect">
            <a:avLst>
              <a:gd fmla="val 9302" name="adj"/>
            </a:avLst>
          </a:prstGeom>
          <a:solidFill>
            <a:srgbClr val="F8F5EF">
              <a:alpha val="96863"/>
            </a:srgbClr>
          </a:solidFill>
          <a:ln cap="flat" cmpd="sng" w="9525">
            <a:solidFill>
              <a:srgbClr val="D8D1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672084" y="2240479"/>
            <a:ext cx="219600" cy="219600"/>
          </a:xfrm>
          <a:prstGeom prst="ellipse">
            <a:avLst/>
          </a:prstGeom>
          <a:solidFill>
            <a:srgbClr val="D2A83C"/>
          </a:solidFill>
          <a:ln cap="flat" cmpd="sng" w="12700">
            <a:solidFill>
              <a:srgbClr val="D2A8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994410" y="2255215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👆 動手機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1983150" y="2246364"/>
            <a:ext cx="222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800"/>
              <a:buFont typeface="Microsoft JhengHei"/>
              <a:buNone/>
            </a:pPr>
            <a:r>
              <a:rPr lang="zh-TW" sz="8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開啟 App、點擊、輸入、捲動、語音播報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697730" y="2177737"/>
            <a:ext cx="3497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「打開 Uber，填好上下車地點，停在送出前確認。」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514350" y="2729204"/>
            <a:ext cx="3697800" cy="589800"/>
          </a:xfrm>
          <a:prstGeom prst="roundRect">
            <a:avLst>
              <a:gd fmla="val 9302" name="adj"/>
            </a:avLst>
          </a:prstGeom>
          <a:solidFill>
            <a:srgbClr val="F8F5EF">
              <a:alpha val="96863"/>
            </a:srgbClr>
          </a:solidFill>
          <a:ln cap="flat" cmpd="sng" w="9525">
            <a:solidFill>
              <a:srgbClr val="D8D1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672084" y="2909503"/>
            <a:ext cx="219600" cy="219600"/>
          </a:xfrm>
          <a:prstGeom prst="ellipse">
            <a:avLst/>
          </a:prstGeom>
          <a:solidFill>
            <a:srgbClr val="6F89B9"/>
          </a:solidFill>
          <a:ln cap="flat" cmpd="sng" w="12700">
            <a:solidFill>
              <a:srgbClr val="6F89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994410" y="2918354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⚙️ 跑程式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1983150" y="2921273"/>
            <a:ext cx="222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800"/>
              <a:buFont typeface="Microsoft JhengHei"/>
              <a:buNone/>
            </a:pPr>
            <a:r>
              <a:rPr lang="zh-TW" sz="8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讀寫檔案、執行指令、啟動 Node.js 程式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697730" y="2852645"/>
            <a:ext cx="3497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「在手機上寫一個小工具，執行後把結果告訴我。」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514350" y="3409994"/>
            <a:ext cx="3697800" cy="589800"/>
          </a:xfrm>
          <a:prstGeom prst="roundRect">
            <a:avLst>
              <a:gd fmla="val 9302" name="adj"/>
            </a:avLst>
          </a:prstGeom>
          <a:solidFill>
            <a:srgbClr val="F8F5EF">
              <a:alpha val="96863"/>
            </a:srgbClr>
          </a:solidFill>
          <a:ln cap="flat" cmpd="sng" w="9525">
            <a:solidFill>
              <a:srgbClr val="D8D1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672084" y="3596181"/>
            <a:ext cx="219600" cy="219600"/>
          </a:xfrm>
          <a:prstGeom prst="ellipse">
            <a:avLst/>
          </a:prstGeom>
          <a:solidFill>
            <a:srgbClr val="987AB6"/>
          </a:solidFill>
          <a:ln cap="flat" cmpd="sng" w="12700">
            <a:solidFill>
              <a:srgbClr val="987A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994410" y="3605032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🙋 找人幫忙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1983150" y="3613836"/>
            <a:ext cx="222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800"/>
              <a:buFont typeface="Microsoft JhengHei"/>
              <a:buNone/>
            </a:pPr>
            <a:r>
              <a:rPr lang="zh-TW" sz="8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發出求助、接收文字與照片、等待回覆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697730" y="3533439"/>
            <a:ext cx="3497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900"/>
              <a:buFont typeface="Microsoft JhengHei"/>
              <a:buNone/>
            </a:pPr>
            <a:r>
              <a:rPr b="1" lang="zh-TW" sz="9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「這一步需要你確認，我把問題送到手機上。」</a:t>
            </a:r>
            <a:endParaRPr sz="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8764524" y="4910328"/>
            <a:ext cx="17145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500"/>
              <a:buFont typeface="Microsoft JhengHei"/>
              <a:buNone/>
            </a:pPr>
            <a:r>
              <a:rPr lang="zh-TW" sz="5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02</a:t>
            </a:r>
            <a:endParaRPr sz="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194775" y="4910315"/>
            <a:ext cx="308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782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8B8782"/>
                </a:solidFill>
                <a:latin typeface="Arial"/>
                <a:ea typeface="Arial"/>
                <a:cs typeface="Arial"/>
                <a:sym typeface="Arial"/>
              </a:rPr>
              <a:t>PickPico · Give your agent a phone.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1363865" y="4143750"/>
            <a:ext cx="6220500" cy="554400"/>
          </a:xfrm>
          <a:prstGeom prst="roundRect">
            <a:avLst>
              <a:gd fmla="val 12800" name="adj"/>
            </a:avLst>
          </a:prstGeom>
          <a:solidFill>
            <a:srgbClr val="EFEAE3"/>
          </a:solidFill>
          <a:ln cap="flat" cmpd="sng" w="12700">
            <a:solidFill>
              <a:srgbClr val="D8D0C6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1675619" y="4347281"/>
            <a:ext cx="102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關鍵差異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2669618" y="4257375"/>
            <a:ext cx="4746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None/>
            </a:pPr>
            <a:r>
              <a:rPr b="1" i="0" lang="zh-TW" sz="10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手機原本就有相機、麥克風、螢幕、網路與電池，而且距離人最近。</a:t>
            </a:r>
            <a:br>
              <a:rPr b="1" i="0" lang="zh-TW" sz="10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zh-TW" sz="10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PickPico 把這些能力變成 Agent 可探索、可呼叫、可等待人回覆的工具。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DE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1EDE7"/>
          </a:solidFill>
          <a:ln cap="flat" cmpd="sng" w="12700">
            <a:solidFill>
              <a:srgbClr val="F1E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11480" y="260604"/>
            <a:ext cx="20574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078"/>
              </a:buClr>
              <a:buSzPts val="500"/>
              <a:buFont typeface="Microsoft JhengHei"/>
              <a:buNone/>
            </a:pPr>
            <a:r>
              <a:rPr b="1" lang="zh-TW" sz="500">
                <a:solidFill>
                  <a:srgbClr val="6A90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HOW IT WORKS</a:t>
            </a:r>
            <a:endParaRPr sz="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11480" y="493776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1700"/>
              <a:buFont typeface="Microsoft JhengHei"/>
              <a:buNone/>
            </a:pPr>
            <a:r>
              <a:rPr b="1" lang="zh-TW" sz="17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告別被動的遙控操作,這是一台真正能獨立思考的隨身副駕駛</a:t>
            </a:r>
            <a:endParaRPr sz="17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411480" y="891540"/>
            <a:ext cx="603504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800"/>
              <a:buFont typeface="Microsoft JhengHei"/>
              <a:buNone/>
            </a:pPr>
            <a:r>
              <a:rPr lang="zh-TW" sz="8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Agent 透過 MCP 探索能力、確認狀態，再把任務交給手機執行。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14" name="Google Shape;114;p18"/>
          <p:cNvCxnSpPr/>
          <p:nvPr/>
        </p:nvCxnSpPr>
        <p:spPr>
          <a:xfrm>
            <a:off x="411480" y="1220724"/>
            <a:ext cx="8366760" cy="0"/>
          </a:xfrm>
          <a:prstGeom prst="straightConnector1">
            <a:avLst/>
          </a:prstGeom>
          <a:noFill/>
          <a:ln cap="flat" cmpd="sng" w="9525">
            <a:solidFill>
              <a:srgbClr val="C9C2B9">
                <a:alpha val="8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18"/>
          <p:cNvSpPr/>
          <p:nvPr/>
        </p:nvSpPr>
        <p:spPr>
          <a:xfrm>
            <a:off x="8764524" y="4910328"/>
            <a:ext cx="17145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500"/>
              <a:buFont typeface="Microsoft JhengHei"/>
              <a:buNone/>
            </a:pPr>
            <a:r>
              <a:rPr lang="zh-TW" sz="5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03</a:t>
            </a:r>
            <a:endParaRPr sz="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194775" y="4910315"/>
            <a:ext cx="308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782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8B8782"/>
                </a:solidFill>
                <a:latin typeface="Arial"/>
                <a:ea typeface="Arial"/>
                <a:cs typeface="Arial"/>
                <a:sym typeface="Arial"/>
              </a:rPr>
              <a:t>PickPico · Give your agent a phone.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2235850" y="1614787"/>
            <a:ext cx="5143500" cy="2832900"/>
          </a:xfrm>
          <a:prstGeom prst="roundRect">
            <a:avLst>
              <a:gd fmla="val 3441" name="adj"/>
            </a:avLst>
          </a:prstGeom>
          <a:solidFill>
            <a:srgbClr val="FAF8F4"/>
          </a:solidFill>
          <a:ln cap="flat" cmpd="sng" w="12700">
            <a:solidFill>
              <a:srgbClr val="D8D0C6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2441603" y="1820522"/>
            <a:ext cx="171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兩種連線方式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2510185" y="2300582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56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5F5B56"/>
                </a:solidFill>
                <a:latin typeface="Arial"/>
                <a:ea typeface="Arial"/>
                <a:cs typeface="Arial"/>
                <a:sym typeface="Arial"/>
              </a:rPr>
              <a:t>區域網路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3333167" y="2266292"/>
            <a:ext cx="3154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zh-TW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Agent  →  PickPico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2510185" y="2917802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56"/>
              </a:buClr>
              <a:buSzPts val="800"/>
              <a:buFont typeface="Arial"/>
              <a:buNone/>
            </a:pPr>
            <a:r>
              <a:rPr b="1" i="0" lang="zh-TW" sz="800" u="none" cap="none" strike="noStrike">
                <a:solidFill>
                  <a:srgbClr val="5F5B56"/>
                </a:solidFill>
                <a:latin typeface="Arial"/>
                <a:ea typeface="Arial"/>
                <a:cs typeface="Arial"/>
                <a:sym typeface="Arial"/>
              </a:rPr>
              <a:t>遠端連線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3333167" y="2883512"/>
            <a:ext cx="3703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b="1" i="0" lang="zh-TW" sz="11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Agent  →  Cloudflare Relay  ←  PickPico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2510185" y="3535022"/>
            <a:ext cx="4492200" cy="6900"/>
          </a:xfrm>
          <a:prstGeom prst="rect">
            <a:avLst/>
          </a:prstGeom>
          <a:solidFill>
            <a:srgbClr val="D8D0C6"/>
          </a:solidFill>
          <a:ln cap="flat" cmpd="sng" w="12700">
            <a:solidFill>
              <a:srgbClr val="D8D0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2510185" y="3740762"/>
            <a:ext cx="13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782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8B878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2661065" y="3740762"/>
            <a:ext cx="4238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手機主動連上 Relay，不需要 public IP、port forwarding 或 VPN。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2510185" y="4063088"/>
            <a:ext cx="13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782"/>
              </a:buClr>
              <a:buSzPts val="900"/>
              <a:buFont typeface="Arial"/>
              <a:buNone/>
            </a:pPr>
            <a:r>
              <a:rPr b="0" i="0" lang="zh-TW" sz="900" u="none" cap="none" strike="noStrike">
                <a:solidFill>
                  <a:srgbClr val="8B8782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2661065" y="4063088"/>
            <a:ext cx="4238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連線資訊含存取憑證，只交給可信任的 Agent。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876258" y="1772516"/>
            <a:ext cx="445800" cy="192000"/>
          </a:xfrm>
          <a:prstGeom prst="roundRect">
            <a:avLst>
              <a:gd fmla="val 42857" name="adj"/>
            </a:avLst>
          </a:prstGeom>
          <a:solidFill>
            <a:srgbClr val="2B2D2C"/>
          </a:solidFill>
          <a:ln cap="flat" cmpd="sng" w="12700">
            <a:solidFill>
              <a:srgbClr val="2B2D2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4944840" y="1810235"/>
            <a:ext cx="3087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zh-TW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411196" y="1772516"/>
            <a:ext cx="617100" cy="192000"/>
          </a:xfrm>
          <a:prstGeom prst="roundRect">
            <a:avLst>
              <a:gd fmla="val 42857" name="adj"/>
            </a:avLst>
          </a:prstGeom>
          <a:solidFill>
            <a:srgbClr val="8B8782"/>
          </a:solidFill>
          <a:ln cap="flat" cmpd="sng" w="12700">
            <a:solidFill>
              <a:srgbClr val="8B878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5479778" y="1810235"/>
            <a:ext cx="4800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zh-TW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Android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124447" y="1772516"/>
            <a:ext cx="514500" cy="192000"/>
          </a:xfrm>
          <a:prstGeom prst="roundRect">
            <a:avLst>
              <a:gd fmla="val 42857" name="adj"/>
            </a:avLst>
          </a:prstGeom>
          <a:solidFill>
            <a:srgbClr val="DDAF4C"/>
          </a:solidFill>
          <a:ln cap="flat" cmpd="sng" w="12700">
            <a:solidFill>
              <a:srgbClr val="DDAF4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6193029" y="1810235"/>
            <a:ext cx="3771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zh-TW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Relay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DE7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1EDE7"/>
          </a:solidFill>
          <a:ln cap="flat" cmpd="sng" w="12700">
            <a:solidFill>
              <a:srgbClr val="F1E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11480" y="260604"/>
            <a:ext cx="20574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078"/>
              </a:buClr>
              <a:buSzPts val="500"/>
              <a:buFont typeface="Microsoft JhengHei"/>
              <a:buNone/>
            </a:pPr>
            <a:r>
              <a:rPr b="1" lang="zh-TW" sz="500">
                <a:solidFill>
                  <a:srgbClr val="6A90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SIGNATURE FEATURE</a:t>
            </a:r>
            <a:endParaRPr sz="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411480" y="493776"/>
            <a:ext cx="7955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1700"/>
              <a:buFont typeface="Microsoft JhengHei"/>
              <a:buNone/>
            </a:pPr>
            <a:r>
              <a:rPr b="1" lang="zh-TW" sz="17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HUMAN HELP：Agent 做不到，就把那一步交給人</a:t>
            </a:r>
            <a:endParaRPr sz="17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11476" y="891550"/>
            <a:ext cx="5061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5B56"/>
              </a:buClr>
              <a:buSzPts val="900"/>
              <a:buFont typeface="Arial"/>
              <a:buNone/>
            </a:pPr>
            <a:r>
              <a:rPr lang="zh-TW" sz="900">
                <a:solidFill>
                  <a:srgbClr val="5F5B56"/>
                </a:solidFill>
              </a:rPr>
              <a:t>人類回覆文字、選項或照片後，結果直接接回原本任務。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800"/>
              <a:buFont typeface="Microsoft JhengHei"/>
              <a:buNone/>
            </a:pPr>
            <a:r>
              <a:t/>
            </a:r>
            <a:endParaRPr sz="800">
              <a:solidFill>
                <a:srgbClr val="6F6A6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43" name="Google Shape;143;p19"/>
          <p:cNvCxnSpPr/>
          <p:nvPr/>
        </p:nvCxnSpPr>
        <p:spPr>
          <a:xfrm>
            <a:off x="411480" y="1220724"/>
            <a:ext cx="5301234" cy="0"/>
          </a:xfrm>
          <a:prstGeom prst="straightConnector1">
            <a:avLst/>
          </a:prstGeom>
          <a:noFill/>
          <a:ln cap="flat" cmpd="sng" w="9525">
            <a:solidFill>
              <a:srgbClr val="C9C2B9">
                <a:alpha val="8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19"/>
          <p:cNvSpPr/>
          <p:nvPr/>
        </p:nvSpPr>
        <p:spPr>
          <a:xfrm>
            <a:off x="411480" y="1522476"/>
            <a:ext cx="1083564" cy="1680210"/>
          </a:xfrm>
          <a:prstGeom prst="roundRect">
            <a:avLst>
              <a:gd fmla="val 5063" name="adj"/>
            </a:avLst>
          </a:prstGeom>
          <a:solidFill>
            <a:srgbClr val="F8F5EF">
              <a:alpha val="96863"/>
            </a:srgbClr>
          </a:solidFill>
          <a:ln cap="flat" cmpd="sng" w="9525">
            <a:solidFill>
              <a:srgbClr val="D8D1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774954" y="1680210"/>
            <a:ext cx="342900" cy="342900"/>
          </a:xfrm>
          <a:prstGeom prst="ellipse">
            <a:avLst/>
          </a:prstGeom>
          <a:solidFill>
            <a:srgbClr val="6A9078"/>
          </a:solidFill>
          <a:ln cap="flat" cmpd="sng" w="12700">
            <a:solidFill>
              <a:srgbClr val="6A9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774954" y="1783080"/>
            <a:ext cx="3429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icrosoft JhengHei"/>
              <a:buNone/>
            </a:pPr>
            <a:r>
              <a:rPr b="1" lang="zh-TW" sz="8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473152" y="2228850"/>
            <a:ext cx="946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800"/>
              <a:buFont typeface="Microsoft JhengHei"/>
              <a:buNone/>
            </a:pPr>
            <a:r>
              <a:rPr b="1" lang="zh-TW" sz="8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Agent </a:t>
            </a:r>
            <a:r>
              <a:rPr b="1" lang="zh-TW" sz="8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啟動攝影機</a:t>
            </a:r>
            <a:br>
              <a:rPr b="1" lang="zh-TW" sz="8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8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查看產品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740879" y="2674620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600"/>
              <a:buFont typeface="Microsoft JhengHei"/>
              <a:buNone/>
            </a:pPr>
            <a:r>
              <a:rPr lang="zh-TW" sz="6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需要更多資訊</a:t>
            </a:r>
            <a:endParaRPr sz="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1783080" y="1522476"/>
            <a:ext cx="1083564" cy="1680210"/>
          </a:xfrm>
          <a:prstGeom prst="roundRect">
            <a:avLst>
              <a:gd fmla="val 5063" name="adj"/>
            </a:avLst>
          </a:prstGeom>
          <a:solidFill>
            <a:srgbClr val="F8F5EF">
              <a:alpha val="96863"/>
            </a:srgbClr>
          </a:solidFill>
          <a:ln cap="flat" cmpd="sng" w="9525">
            <a:solidFill>
              <a:srgbClr val="D8D1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2146554" y="1680210"/>
            <a:ext cx="342900" cy="342900"/>
          </a:xfrm>
          <a:prstGeom prst="ellipse">
            <a:avLst/>
          </a:prstGeom>
          <a:solidFill>
            <a:srgbClr val="D2A83C"/>
          </a:solidFill>
          <a:ln cap="flat" cmpd="sng" w="12700">
            <a:solidFill>
              <a:srgbClr val="D2A8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2146554" y="1783080"/>
            <a:ext cx="3429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icrosoft JhengHei"/>
              <a:buNone/>
            </a:pPr>
            <a:r>
              <a:rPr b="1" lang="zh-TW" sz="8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1920240" y="2228850"/>
            <a:ext cx="80924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800"/>
              <a:buFont typeface="Microsoft JhengHei"/>
              <a:buNone/>
            </a:pPr>
            <a:r>
              <a:rPr b="1" lang="zh-TW" sz="8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發出手機求助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851613" y="2674625"/>
            <a:ext cx="94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600"/>
              <a:buFont typeface="Microsoft JhengHei"/>
              <a:buNone/>
            </a:pPr>
            <a:r>
              <a:rPr lang="zh-TW" sz="6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請使用者協助拍攝</a:t>
            </a:r>
            <a:br>
              <a:rPr lang="zh-TW" sz="6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lang="zh-TW" sz="6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產品背面標籤</a:t>
            </a:r>
            <a:endParaRPr sz="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3154680" y="1522476"/>
            <a:ext cx="1083564" cy="1680210"/>
          </a:xfrm>
          <a:prstGeom prst="roundRect">
            <a:avLst>
              <a:gd fmla="val 5063" name="adj"/>
            </a:avLst>
          </a:prstGeom>
          <a:solidFill>
            <a:srgbClr val="F8F5EF">
              <a:alpha val="96863"/>
            </a:srgbClr>
          </a:solidFill>
          <a:ln cap="flat" cmpd="sng" w="9525">
            <a:solidFill>
              <a:srgbClr val="D8D1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518154" y="1680210"/>
            <a:ext cx="342900" cy="342900"/>
          </a:xfrm>
          <a:prstGeom prst="ellipse">
            <a:avLst/>
          </a:prstGeom>
          <a:solidFill>
            <a:srgbClr val="6F89B9"/>
          </a:solidFill>
          <a:ln cap="flat" cmpd="sng" w="12700">
            <a:solidFill>
              <a:srgbClr val="6F89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3518154" y="1783080"/>
            <a:ext cx="3429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icrosoft JhengHei"/>
              <a:buNone/>
            </a:pPr>
            <a:r>
              <a:rPr b="1" lang="zh-TW" sz="8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3291840" y="2228850"/>
            <a:ext cx="80924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800"/>
              <a:buFont typeface="Microsoft JhengHei"/>
              <a:buNone/>
            </a:pPr>
            <a:r>
              <a:rPr b="1" lang="zh-TW" sz="8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人回覆照片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278124" y="26746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600"/>
              <a:buFont typeface="Microsoft JhengHei"/>
              <a:buNone/>
            </a:pPr>
            <a:r>
              <a:rPr lang="zh-TW" sz="6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文字 / 選項 / 拍照</a:t>
            </a:r>
            <a:endParaRPr sz="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4526280" y="1522476"/>
            <a:ext cx="1083564" cy="1680210"/>
          </a:xfrm>
          <a:prstGeom prst="roundRect">
            <a:avLst>
              <a:gd fmla="val 5063" name="adj"/>
            </a:avLst>
          </a:prstGeom>
          <a:solidFill>
            <a:srgbClr val="F8F5EF">
              <a:alpha val="96863"/>
            </a:srgbClr>
          </a:solidFill>
          <a:ln cap="flat" cmpd="sng" w="9525">
            <a:solidFill>
              <a:srgbClr val="D8D1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4889754" y="1680210"/>
            <a:ext cx="342900" cy="342900"/>
          </a:xfrm>
          <a:prstGeom prst="ellipse">
            <a:avLst/>
          </a:prstGeom>
          <a:solidFill>
            <a:srgbClr val="987AB6"/>
          </a:solidFill>
          <a:ln cap="flat" cmpd="sng" w="12700">
            <a:solidFill>
              <a:srgbClr val="987A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4889754" y="1783080"/>
            <a:ext cx="3429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icrosoft JhengHei"/>
              <a:buNone/>
            </a:pPr>
            <a:r>
              <a:rPr b="1" lang="zh-TW" sz="8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4663440" y="2228850"/>
            <a:ext cx="80924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800"/>
              <a:buFont typeface="Microsoft JhengHei"/>
              <a:buNone/>
            </a:pPr>
            <a:r>
              <a:rPr b="1" lang="zh-TW" sz="8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Agent 接續工作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649724" y="26746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600"/>
              <a:buFont typeface="Microsoft JhengHei"/>
              <a:buNone/>
            </a:pPr>
            <a:r>
              <a:rPr lang="zh-TW" sz="6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回到原 tool call 結果</a:t>
            </a:r>
            <a:endParaRPr sz="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34924" y="3717036"/>
            <a:ext cx="47320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1200"/>
              <a:buFont typeface="Microsoft JhengHei"/>
              <a:buNone/>
            </a:pPr>
            <a:r>
              <a:rPr b="1" lang="zh-TW" sz="12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人類的協助，直接接回原本的任務。</a:t>
            </a:r>
            <a:endParaRPr sz="1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34924" y="4059936"/>
            <a:ext cx="47320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800"/>
              <a:buFont typeface="Microsoft JhengHei"/>
              <a:buNone/>
            </a:pPr>
            <a:r>
              <a:rPr lang="zh-TW" sz="8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文字、選項、照片、現場拍攝，都可以成為 Agent 繼續工作的輸入。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8764524" y="4910328"/>
            <a:ext cx="17145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500"/>
              <a:buFont typeface="Microsoft JhengHei"/>
              <a:buNone/>
            </a:pPr>
            <a:r>
              <a:rPr lang="zh-TW" sz="5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04</a:t>
            </a:r>
            <a:endParaRPr sz="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7892" y="384048"/>
            <a:ext cx="2907792" cy="436168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/>
          <p:nvPr/>
        </p:nvSpPr>
        <p:spPr>
          <a:xfrm>
            <a:off x="194775" y="4910315"/>
            <a:ext cx="308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782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8B8782"/>
                </a:solidFill>
                <a:latin typeface="Arial"/>
                <a:ea typeface="Arial"/>
                <a:cs typeface="Arial"/>
                <a:sym typeface="Arial"/>
              </a:rPr>
              <a:t>PickPico · Give your agent a phone.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DE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1EDE7"/>
          </a:solidFill>
          <a:ln cap="flat" cmpd="sng" w="12700">
            <a:solidFill>
              <a:srgbClr val="F1E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11480" y="260604"/>
            <a:ext cx="20574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078"/>
              </a:buClr>
              <a:buSzPts val="500"/>
              <a:buFont typeface="Microsoft JhengHei"/>
              <a:buNone/>
            </a:pPr>
            <a:r>
              <a:rPr b="1" lang="zh-TW" sz="500">
                <a:solidFill>
                  <a:srgbClr val="6A90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TRUST</a:t>
            </a:r>
            <a:endParaRPr sz="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11480" y="493776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1700"/>
              <a:buFont typeface="Microsoft JhengHei"/>
              <a:buNone/>
            </a:pPr>
            <a:r>
              <a:rPr b="1" lang="zh-TW" sz="1700">
                <a:solidFill>
                  <a:srgbClr val="222222"/>
                </a:solidFill>
              </a:rPr>
              <a:t>安全回答：不用 Root，不用 ADB，不繞過 Android 邊界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1700"/>
              <a:buFont typeface="Microsoft JhengHei"/>
              <a:buNone/>
            </a:pPr>
            <a:r>
              <a:t/>
            </a:r>
            <a:endParaRPr b="1" sz="1700">
              <a:solidFill>
                <a:srgbClr val="373534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11480" y="891540"/>
            <a:ext cx="65151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5B56"/>
              </a:buClr>
              <a:buSzPts val="900"/>
              <a:buFont typeface="Arial"/>
              <a:buNone/>
            </a:pPr>
            <a:r>
              <a:rPr lang="zh-TW" sz="900">
                <a:solidFill>
                  <a:srgbClr val="5F5B56"/>
                </a:solidFill>
              </a:rPr>
              <a:t>PickPico 使用 Android 正規權限與服務；高風險能力由人授權。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>
            <a:off x="411480" y="1220724"/>
            <a:ext cx="8366760" cy="0"/>
          </a:xfrm>
          <a:prstGeom prst="straightConnector1">
            <a:avLst/>
          </a:prstGeom>
          <a:noFill/>
          <a:ln cap="flat" cmpd="sng" w="9525">
            <a:solidFill>
              <a:srgbClr val="C9C2B9">
                <a:alpha val="8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20"/>
          <p:cNvSpPr/>
          <p:nvPr/>
        </p:nvSpPr>
        <p:spPr>
          <a:xfrm>
            <a:off x="8764524" y="4910328"/>
            <a:ext cx="17145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500"/>
              <a:buFont typeface="Microsoft JhengHei"/>
              <a:buNone/>
            </a:pPr>
            <a:r>
              <a:rPr lang="zh-TW" sz="5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05</a:t>
            </a:r>
            <a:endParaRPr sz="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14364" y="1429885"/>
            <a:ext cx="5246400" cy="534900"/>
          </a:xfrm>
          <a:prstGeom prst="roundRect">
            <a:avLst>
              <a:gd fmla="val 10256" name="adj"/>
            </a:avLst>
          </a:prstGeom>
          <a:solidFill>
            <a:srgbClr val="FAF8F4"/>
          </a:solidFill>
          <a:ln cap="flat" cmpd="sng" w="12700">
            <a:solidFill>
              <a:srgbClr val="D8D0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672102" y="1580761"/>
            <a:ext cx="240000" cy="192000"/>
          </a:xfrm>
          <a:prstGeom prst="roundRect">
            <a:avLst>
              <a:gd fmla="val 42857" name="adj"/>
            </a:avLst>
          </a:prstGeom>
          <a:solidFill>
            <a:srgbClr val="5E8F73"/>
          </a:solidFill>
          <a:ln cap="flat" cmpd="sng" w="12700">
            <a:solidFill>
              <a:srgbClr val="5E8F7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740684" y="1618480"/>
            <a:ext cx="1029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zh-TW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994437" y="1602355"/>
            <a:ext cx="113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能力開放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160328" y="1612179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56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5F5B56"/>
                </a:solidFill>
                <a:latin typeface="Arial"/>
                <a:ea typeface="Arial"/>
                <a:cs typeface="Arial"/>
                <a:sym typeface="Arial"/>
              </a:rPr>
              <a:t>相機、麥克風、位置等由 Android 權限管理。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14364" y="2149975"/>
            <a:ext cx="5246400" cy="534900"/>
          </a:xfrm>
          <a:prstGeom prst="roundRect">
            <a:avLst>
              <a:gd fmla="val 10256" name="adj"/>
            </a:avLst>
          </a:prstGeom>
          <a:solidFill>
            <a:srgbClr val="EFEAE3"/>
          </a:solidFill>
          <a:ln cap="flat" cmpd="sng" w="12700">
            <a:solidFill>
              <a:srgbClr val="D8D0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672102" y="2300851"/>
            <a:ext cx="240000" cy="192000"/>
          </a:xfrm>
          <a:prstGeom prst="roundRect">
            <a:avLst>
              <a:gd fmla="val 42857" name="adj"/>
            </a:avLst>
          </a:prstGeom>
          <a:solidFill>
            <a:srgbClr val="6386B8"/>
          </a:solidFill>
          <a:ln cap="flat" cmpd="sng" w="12700">
            <a:solidFill>
              <a:srgbClr val="6386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740684" y="2338570"/>
            <a:ext cx="1029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zh-TW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994437" y="2340100"/>
            <a:ext cx="113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Hyper Mode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160328" y="2332269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56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5F5B56"/>
                </a:solidFill>
                <a:latin typeface="Arial"/>
                <a:ea typeface="Arial"/>
                <a:cs typeface="Arial"/>
                <a:sym typeface="Arial"/>
              </a:rPr>
              <a:t>畫面操作、通知存取、螢幕擷取需要另外授權。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14364" y="2870065"/>
            <a:ext cx="5246400" cy="534900"/>
          </a:xfrm>
          <a:prstGeom prst="roundRect">
            <a:avLst>
              <a:gd fmla="val 10256" name="adj"/>
            </a:avLst>
          </a:prstGeom>
          <a:solidFill>
            <a:srgbClr val="FAF8F4"/>
          </a:solidFill>
          <a:ln cap="flat" cmpd="sng" w="12700">
            <a:solidFill>
              <a:srgbClr val="D8D0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672102" y="3020941"/>
            <a:ext cx="240000" cy="192000"/>
          </a:xfrm>
          <a:prstGeom prst="roundRect">
            <a:avLst>
              <a:gd fmla="val 42857" name="adj"/>
            </a:avLst>
          </a:prstGeom>
          <a:solidFill>
            <a:srgbClr val="DDAF4C"/>
          </a:solidFill>
          <a:ln cap="flat" cmpd="sng" w="12700">
            <a:solidFill>
              <a:srgbClr val="DDAF4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740684" y="3058660"/>
            <a:ext cx="1029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zh-TW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994437" y="3048420"/>
            <a:ext cx="113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OS Hard Boundary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160328" y="3052359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56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5F5B56"/>
                </a:solidFill>
                <a:latin typeface="Arial"/>
                <a:ea typeface="Arial"/>
                <a:cs typeface="Arial"/>
                <a:sym typeface="Arial"/>
              </a:rPr>
              <a:t>PIN、指紋、Wallet 簽署等仍由 Android / App 處理。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14364" y="3590155"/>
            <a:ext cx="5246400" cy="534900"/>
          </a:xfrm>
          <a:prstGeom prst="roundRect">
            <a:avLst>
              <a:gd fmla="val 10256" name="adj"/>
            </a:avLst>
          </a:prstGeom>
          <a:solidFill>
            <a:srgbClr val="EFEAE3"/>
          </a:solidFill>
          <a:ln cap="flat" cmpd="sng" w="12700">
            <a:solidFill>
              <a:srgbClr val="D8D0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672102" y="3741031"/>
            <a:ext cx="240000" cy="192000"/>
          </a:xfrm>
          <a:prstGeom prst="roundRect">
            <a:avLst>
              <a:gd fmla="val 42857" name="adj"/>
            </a:avLst>
          </a:prstGeom>
          <a:solidFill>
            <a:srgbClr val="BA655D"/>
          </a:solidFill>
          <a:ln cap="flat" cmpd="sng" w="12700">
            <a:solidFill>
              <a:srgbClr val="BA655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740684" y="3778750"/>
            <a:ext cx="1029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zh-TW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994437" y="3768510"/>
            <a:ext cx="113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None/>
            </a:pPr>
            <a:r>
              <a:rPr b="1" i="0" lang="zh-TW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Sandbox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2160328" y="3766564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56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5F5B56"/>
                </a:solidFill>
                <a:latin typeface="Arial"/>
                <a:ea typeface="Arial"/>
                <a:cs typeface="Arial"/>
                <a:sym typeface="Arial"/>
              </a:rPr>
              <a:t>檔案與程式在 PickPico App 私有空間內運作。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172365" y="3233450"/>
            <a:ext cx="2331900" cy="891600"/>
          </a:xfrm>
          <a:prstGeom prst="roundRect">
            <a:avLst>
              <a:gd fmla="val 12308" name="adj"/>
            </a:avLst>
          </a:prstGeom>
          <a:solidFill>
            <a:srgbClr val="FAF8F4"/>
          </a:solidFill>
          <a:ln cap="flat" cmpd="sng" w="12700">
            <a:solidFill>
              <a:srgbClr val="D8D0C6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6357535" y="3459764"/>
            <a:ext cx="198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zh-TW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Can do ≠ May 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6343819" y="3775232"/>
            <a:ext cx="198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B56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5F5B56"/>
                </a:solidFill>
                <a:latin typeface="Arial"/>
                <a:ea typeface="Arial"/>
                <a:cs typeface="Arial"/>
                <a:sym typeface="Arial"/>
              </a:rPr>
              <a:t>Agent 能找到能力，不代表能無條件執行。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194775" y="4910315"/>
            <a:ext cx="308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782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8B8782"/>
                </a:solidFill>
                <a:latin typeface="Arial"/>
                <a:ea typeface="Arial"/>
                <a:cs typeface="Arial"/>
                <a:sym typeface="Arial"/>
              </a:rPr>
              <a:t>PickPico · Give your agent a phone.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DE7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1EDE7"/>
          </a:solidFill>
          <a:ln cap="flat" cmpd="sng" w="12700">
            <a:solidFill>
              <a:srgbClr val="F1E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10" name="Google Shape;210;p21" title="pdc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5775" y="493775"/>
            <a:ext cx="5038750" cy="377907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/>
          <p:nvPr/>
        </p:nvSpPr>
        <p:spPr>
          <a:xfrm>
            <a:off x="411475" y="1423125"/>
            <a:ext cx="2700300" cy="2133600"/>
          </a:xfrm>
          <a:prstGeom prst="roundRect">
            <a:avLst>
              <a:gd fmla="val 7111" name="adj"/>
            </a:avLst>
          </a:prstGeom>
          <a:solidFill>
            <a:srgbClr val="FAF8F4"/>
          </a:solidFill>
          <a:ln cap="flat" cmpd="sng" w="12700">
            <a:solidFill>
              <a:srgbClr val="D8D0C6">
                <a:alpha val="9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411480" y="260604"/>
            <a:ext cx="20574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078"/>
              </a:buClr>
              <a:buSzPts val="500"/>
              <a:buFont typeface="Microsoft JhengHei"/>
              <a:buNone/>
            </a:pPr>
            <a:r>
              <a:rPr b="1" lang="zh-TW" sz="500">
                <a:solidFill>
                  <a:srgbClr val="6A907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DEMO FLOW</a:t>
            </a:r>
            <a:endParaRPr sz="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11480" y="493776"/>
            <a:ext cx="7269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1700"/>
              <a:buFont typeface="Microsoft JhengHei"/>
              <a:buNone/>
            </a:pPr>
            <a:r>
              <a:rPr b="1" lang="zh-TW" sz="17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沒有 NB，</a:t>
            </a:r>
            <a:br>
              <a:rPr b="1" lang="zh-TW" sz="17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17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也能把 Agent 的工作帶著走</a:t>
            </a:r>
            <a:endParaRPr sz="17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411480" y="1009803"/>
            <a:ext cx="6515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800"/>
              <a:buFont typeface="Microsoft JhengHei"/>
              <a:buNone/>
            </a:pPr>
            <a:r>
              <a:rPr lang="zh-TW" sz="8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人在國外度假，臨時有緊急開發需求</a:t>
            </a:r>
            <a:r>
              <a:rPr lang="zh-TW" sz="8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800"/>
              <a:buFont typeface="Microsoft JhengHei"/>
              <a:buNone/>
            </a:pPr>
            <a:r>
              <a:t/>
            </a:r>
            <a:endParaRPr sz="800">
              <a:solidFill>
                <a:srgbClr val="6F6A6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15" name="Google Shape;215;p21"/>
          <p:cNvCxnSpPr/>
          <p:nvPr/>
        </p:nvCxnSpPr>
        <p:spPr>
          <a:xfrm>
            <a:off x="3530530" y="253399"/>
            <a:ext cx="0" cy="4260900"/>
          </a:xfrm>
          <a:prstGeom prst="straightConnector1">
            <a:avLst/>
          </a:prstGeom>
          <a:noFill/>
          <a:ln cap="flat" cmpd="sng" w="9525">
            <a:solidFill>
              <a:srgbClr val="C9C2B9">
                <a:alpha val="8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21"/>
          <p:cNvSpPr/>
          <p:nvPr/>
        </p:nvSpPr>
        <p:spPr>
          <a:xfrm>
            <a:off x="651510" y="1628359"/>
            <a:ext cx="246900" cy="246900"/>
          </a:xfrm>
          <a:prstGeom prst="ellipse">
            <a:avLst/>
          </a:prstGeom>
          <a:solidFill>
            <a:srgbClr val="6A9078"/>
          </a:solidFill>
          <a:ln cap="flat" cmpd="sng" w="12700">
            <a:solidFill>
              <a:srgbClr val="6A90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665226" y="1690081"/>
            <a:ext cx="2196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icrosoft JhengHei"/>
              <a:buNone/>
            </a:pPr>
            <a:r>
              <a:rPr b="1" lang="zh-TW" sz="6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sz="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028700" y="1667608"/>
            <a:ext cx="192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800"/>
              <a:buFont typeface="Microsoft JhengHei"/>
              <a:buNone/>
            </a:pPr>
            <a:r>
              <a:rPr b="1" lang="zh-TW" sz="8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交代需求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651510" y="2112264"/>
            <a:ext cx="246888" cy="246888"/>
          </a:xfrm>
          <a:prstGeom prst="ellipse">
            <a:avLst/>
          </a:prstGeom>
          <a:solidFill>
            <a:srgbClr val="D2A83C"/>
          </a:solidFill>
          <a:ln cap="flat" cmpd="sng" w="12700">
            <a:solidFill>
              <a:srgbClr val="D2A8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665226" y="2173986"/>
            <a:ext cx="219456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icrosoft JhengHei"/>
              <a:buNone/>
            </a:pPr>
            <a:r>
              <a:rPr b="1" lang="zh-TW" sz="6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sz="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1028700" y="2169168"/>
            <a:ext cx="192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800"/>
              <a:buFont typeface="Microsoft JhengHei"/>
              <a:buNone/>
            </a:pPr>
            <a:r>
              <a:rPr b="1" lang="zh-TW" sz="8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Agent 寫入程式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651510" y="2578514"/>
            <a:ext cx="246900" cy="246900"/>
          </a:xfrm>
          <a:prstGeom prst="ellipse">
            <a:avLst/>
          </a:prstGeom>
          <a:solidFill>
            <a:srgbClr val="6F89B9"/>
          </a:solidFill>
          <a:ln cap="flat" cmpd="sng" w="12700">
            <a:solidFill>
              <a:srgbClr val="6F89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665226" y="2640236"/>
            <a:ext cx="2196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icrosoft JhengHei"/>
              <a:buNone/>
            </a:pPr>
            <a:r>
              <a:rPr b="1" lang="zh-TW" sz="6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sz="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1028700" y="2623648"/>
            <a:ext cx="192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800"/>
              <a:buFont typeface="Microsoft JhengHei"/>
              <a:buNone/>
            </a:pPr>
            <a:r>
              <a:rPr b="1" lang="zh-TW" sz="8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手機</a:t>
            </a:r>
            <a:r>
              <a:rPr b="1" lang="zh-TW" sz="8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651510" y="3027109"/>
            <a:ext cx="246900" cy="246900"/>
          </a:xfrm>
          <a:prstGeom prst="ellipse">
            <a:avLst/>
          </a:prstGeom>
          <a:solidFill>
            <a:srgbClr val="987AB6"/>
          </a:solidFill>
          <a:ln cap="flat" cmpd="sng" w="12700">
            <a:solidFill>
              <a:srgbClr val="987A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65226" y="3088831"/>
            <a:ext cx="2196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icrosoft JhengHei"/>
              <a:buNone/>
            </a:pPr>
            <a:r>
              <a:rPr b="1" lang="zh-TW" sz="6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 sz="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1028700" y="3060473"/>
            <a:ext cx="192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800"/>
              <a:buFont typeface="Microsoft JhengHei"/>
              <a:buNone/>
            </a:pPr>
            <a:r>
              <a:rPr b="1" lang="zh-TW" sz="8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取得結果</a:t>
            </a:r>
            <a:endParaRPr sz="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6672775" y="4078064"/>
            <a:ext cx="2263200" cy="497100"/>
          </a:xfrm>
          <a:prstGeom prst="roundRect">
            <a:avLst>
              <a:gd fmla="val 5926" name="adj"/>
            </a:avLst>
          </a:prstGeom>
          <a:solidFill>
            <a:srgbClr val="F8F5EF">
              <a:alpha val="96863"/>
            </a:srgbClr>
          </a:solidFill>
          <a:ln cap="flat" cmpd="sng" w="9525">
            <a:solidFill>
              <a:srgbClr val="D8D1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3531578" y="268604"/>
            <a:ext cx="181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534"/>
              </a:buClr>
              <a:buSzPts val="1000"/>
              <a:buFont typeface="Microsoft JhengHei"/>
              <a:buNone/>
            </a:pPr>
            <a:r>
              <a:rPr b="1" lang="zh-TW" sz="1000">
                <a:solidFill>
                  <a:srgbClr val="37353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Optional PickPico Dock</a:t>
            </a:r>
            <a:endParaRPr sz="1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947105" y="4163565"/>
            <a:ext cx="1714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700"/>
              <a:buFont typeface="Microsoft JhengHei"/>
              <a:buNone/>
            </a:pPr>
            <a:r>
              <a:rPr lang="zh-TW" sz="7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BLE HID 4-key accessory</a:t>
            </a:r>
            <a:endParaRPr sz="7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700"/>
              <a:buFont typeface="Microsoft JhengHei"/>
              <a:buNone/>
            </a:pPr>
            <a:r>
              <a:rPr lang="zh-TW" sz="7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Approve / Reject / Voice / Detail</a:t>
            </a:r>
            <a:endParaRPr sz="7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8764524" y="4910328"/>
            <a:ext cx="17145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6A66"/>
              </a:buClr>
              <a:buSzPts val="500"/>
              <a:buFont typeface="Microsoft JhengHei"/>
              <a:buNone/>
            </a:pPr>
            <a:r>
              <a:rPr lang="zh-TW" sz="500">
                <a:solidFill>
                  <a:srgbClr val="6F6A6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06</a:t>
            </a:r>
            <a:endParaRPr sz="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94775" y="4910315"/>
            <a:ext cx="308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782"/>
              </a:buClr>
              <a:buSzPts val="600"/>
              <a:buFont typeface="Arial"/>
              <a:buNone/>
            </a:pPr>
            <a:r>
              <a:rPr b="0" i="0" lang="zh-TW" sz="600" u="none" cap="none" strike="noStrike">
                <a:solidFill>
                  <a:srgbClr val="8B8782"/>
                </a:solidFill>
                <a:latin typeface="Arial"/>
                <a:ea typeface="Arial"/>
                <a:cs typeface="Arial"/>
                <a:sym typeface="Arial"/>
              </a:rPr>
              <a:t>PickPico · Give your agent a phone.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277463" y="295884"/>
            <a:ext cx="294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B56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5F5B56"/>
                </a:solidFill>
                <a:latin typeface="Arial"/>
                <a:ea typeface="Arial"/>
                <a:cs typeface="Arial"/>
                <a:sym typeface="Arial"/>
              </a:rPr>
              <a:t>按住說話、放開確認，把需求交給 Agent。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45782" y="4681095"/>
            <a:ext cx="7887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i="0" lang="zh-TW" sz="1100" u="none" cap="none" strike="noStrike">
                <a:solidFill>
                  <a:schemeClr val="accent6"/>
                </a:solidFill>
              </a:rPr>
              <a:t>PickPico gives agents a phone: senses, apps, code execution, and a human in the loop.</a:t>
            </a:r>
            <a:endParaRPr b="0" i="0" sz="11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04146" y="3774790"/>
            <a:ext cx="3895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Agent 在手機工作空間讀寫檔案、執行指令或啟動 Node.js 小工具。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304146" y="4083400"/>
            <a:ext cx="3895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需要補充資訊時，再透過 HUMAN HELP 找你。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